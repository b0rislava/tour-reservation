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Comfortaa SemiBold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Comfortaa Medium"/>
      <p:regular r:id="rId22"/>
      <p:bold r:id="rId23"/>
    </p:embeddedFont>
    <p:embeddedFont>
      <p:font typeface="Comforta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ComfortaaMedium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Comfortaa-regular.fntdata"/><Relationship Id="rId23" Type="http://schemas.openxmlformats.org/officeDocument/2006/relationships/font" Target="fonts/Comfortaa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omfortaaSemiBold-bold.fntdata"/><Relationship Id="rId16" Type="http://schemas.openxmlformats.org/officeDocument/2006/relationships/font" Target="fonts/ComfortaaSemiBold-regular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5933e7c9c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5933e7c9c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933e7c9c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933e7c9c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933e7c9c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5933e7c9c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5933e7c9c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5933e7c9c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5933e7c9c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5933e7c9c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5933e7c9c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5933e7c9c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5933e7c9c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5933e7c9c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5933e7c9c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5933e7c9c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5933e7c9c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5933e7c9c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480150" y="1426642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latin typeface="Comfortaa SemiBold"/>
                <a:ea typeface="Comfortaa SemiBold"/>
                <a:cs typeface="Comfortaa SemiBold"/>
                <a:sym typeface="Comfortaa SemiBold"/>
              </a:rPr>
              <a:t>Приложение за резервиране на турове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2727754" y="2900249"/>
            <a:ext cx="3688500" cy="7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5"/>
                </a:solidFill>
                <a:latin typeface="Comfortaa"/>
                <a:ea typeface="Comfortaa"/>
                <a:cs typeface="Comfortaa"/>
                <a:sym typeface="Comfortaa"/>
              </a:rPr>
              <a:t>Борислава Иванова 12б </a:t>
            </a:r>
            <a:endParaRPr>
              <a:solidFill>
                <a:schemeClr val="accent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latin typeface="Comfortaa"/>
                <a:ea typeface="Comfortaa"/>
                <a:cs typeface="Comfortaa"/>
                <a:sym typeface="Comfortaa"/>
              </a:rPr>
              <a:t>Цел на проекта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Изграждане на цялостно уеб приложение за резервация на екскурзии.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Предоставяне на сигурен REST API бекенд.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Интерактивен и модерен потребителски интерфейс (Vanilla JS &amp; CSS).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Автоматизиране на процеса по създаване на турове и запазване на места.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latin typeface="Comfortaa"/>
                <a:ea typeface="Comfortaa"/>
                <a:cs typeface="Comfortaa"/>
                <a:sym typeface="Comfortaa"/>
              </a:rPr>
              <a:t>Потребителски роли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Системата разделя функционалностите спрямо </a:t>
            </a: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3</a:t>
            </a: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 типа потребители: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Traveler</a:t>
            </a: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: Разглежда дестинации, резервира дати и запазва любими турове.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Guide</a:t>
            </a: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: Създава, редактира и управлява своите турове.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Admin</a:t>
            </a: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: Има достъп до специално табло за пълна модерация на потребители и изтриване на съдържание.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latin typeface="Comfortaa"/>
                <a:ea typeface="Comfortaa"/>
                <a:cs typeface="Comfortaa"/>
                <a:sym typeface="Comfortaa"/>
              </a:rPr>
              <a:t>Технологичен стек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Бекенд </a:t>
            </a: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инфраструктура: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Spring Boot (Java): REST API, Spring Security, Spring Data JPA.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База данни: PostgreSQL (стартирана чрез Docker).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Документация и Тестване: Swagger (OpenAPI).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5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Фронтенд </a:t>
            </a: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архитектура: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Vanilla JavaScript &amp; Fetch API (асинхронни заявки). 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 Medium"/>
              <a:buChar char="-"/>
            </a:pPr>
            <a:r>
              <a:rPr lang="bg">
                <a:latin typeface="Comfortaa Medium"/>
                <a:ea typeface="Comfortaa Medium"/>
                <a:cs typeface="Comfortaa Medium"/>
                <a:sym typeface="Comfortaa Medium"/>
              </a:rPr>
              <a:t>HTML5 и CSS3 (Flexbox/Grid, променливи).</a:t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5852175" y="658050"/>
            <a:ext cx="2702400" cy="16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2800">
                <a:latin typeface="Comfortaa"/>
                <a:ea typeface="Comfortaa"/>
                <a:cs typeface="Comfortaa"/>
                <a:sym typeface="Comfortaa"/>
              </a:rPr>
              <a:t>Архитектура на базата данни</a:t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235475"/>
            <a:ext cx="5415049" cy="446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latin typeface="Comfortaa"/>
                <a:ea typeface="Comfortaa"/>
                <a:cs typeface="Comfortaa"/>
                <a:sym typeface="Comfortaa"/>
              </a:rPr>
              <a:t>Релации в база данни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@OneToMany</a:t>
            </a:r>
            <a:r>
              <a:rPr lang="bg">
                <a:solidFill>
                  <a:srgbClr val="25252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Релация между Tour и Booking (Един тур има много резервации). </a:t>
            </a:r>
            <a:endParaRPr>
              <a:solidFill>
                <a:srgbClr val="252526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@OneToMany</a:t>
            </a:r>
            <a:r>
              <a:rPr lang="bg">
                <a:solidFill>
                  <a:srgbClr val="25252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Релация между User и Booking (Един потребител има много резервации).</a:t>
            </a:r>
            <a:endParaRPr>
              <a:solidFill>
                <a:srgbClr val="252526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@OneToMany</a:t>
            </a:r>
            <a:r>
              <a:rPr lang="bg">
                <a:solidFill>
                  <a:srgbClr val="25252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Релация между User и Tour (Един екскурзовод има много създадени турове).</a:t>
            </a:r>
            <a:endParaRPr>
              <a:solidFill>
                <a:srgbClr val="252526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latin typeface="Comfortaa"/>
                <a:ea typeface="Comfortaa"/>
                <a:cs typeface="Comfortaa"/>
                <a:sym typeface="Comfortaa"/>
              </a:rPr>
              <a:t>Релации в база данни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@ManyToMany</a:t>
            </a:r>
            <a:r>
              <a:rPr lang="bg">
                <a:solidFill>
                  <a:srgbClr val="25252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Релация между User и Tour за функционалността "Любими турове" (Много потребители харесват много турове).</a:t>
            </a:r>
            <a:endParaRPr>
              <a:solidFill>
                <a:srgbClr val="252526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@OneToOne</a:t>
            </a:r>
            <a:r>
              <a:rPr lang="bg">
                <a:solidFill>
                  <a:srgbClr val="25252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Релация между Tour и TourDetails (Всеки тур има точно един обект с допълнителни детайли).</a:t>
            </a:r>
            <a:endParaRPr>
              <a:solidFill>
                <a:srgbClr val="252526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Comfortaa Medium"/>
              <a:buChar char="-"/>
            </a:pPr>
            <a:r>
              <a:rPr lang="bg">
                <a:solidFill>
                  <a:schemeClr val="accent4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@OneToOne</a:t>
            </a:r>
            <a:r>
              <a:rPr lang="bg">
                <a:solidFill>
                  <a:srgbClr val="25252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Релация между Tour и TourImage (Всеки тур има точно една запазена снимка).</a:t>
            </a:r>
            <a:endParaRPr>
              <a:solidFill>
                <a:srgbClr val="252526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>
                <a:latin typeface="Comfortaa"/>
                <a:ea typeface="Comfortaa"/>
                <a:cs typeface="Comfortaa"/>
                <a:sym typeface="Comfortaa"/>
              </a:rPr>
              <a:t>Тестване на системата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Comfortaa Medium"/>
              <a:buChar char="-"/>
            </a:pPr>
            <a:r>
              <a:rPr lang="bg">
                <a:solidFill>
                  <a:schemeClr val="accent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HTTP API Scripts</a:t>
            </a:r>
            <a:r>
              <a:rPr lang="bg">
                <a:solidFill>
                  <a:srgbClr val="25252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Директни файлове (api-tests.http) за тестване на заявките (GET, POST). </a:t>
            </a:r>
            <a:endParaRPr>
              <a:solidFill>
                <a:srgbClr val="252526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Comfortaa Medium"/>
              <a:buChar char="-"/>
            </a:pPr>
            <a:r>
              <a:rPr lang="bg">
                <a:solidFill>
                  <a:schemeClr val="accent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Swagger UI</a:t>
            </a:r>
            <a:r>
              <a:rPr lang="bg">
                <a:solidFill>
                  <a:srgbClr val="252526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: Графичен интерфейс за интерактивно разглеждане на endpoints.</a:t>
            </a:r>
            <a:endParaRPr>
              <a:solidFill>
                <a:srgbClr val="252526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0000">
                <a:latin typeface="Comfortaa"/>
                <a:ea typeface="Comfortaa"/>
                <a:cs typeface="Comfortaa"/>
                <a:sym typeface="Comfortaa"/>
              </a:rPr>
              <a:t>Демо</a:t>
            </a:r>
            <a:endParaRPr b="1" sz="100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latin typeface="Comfortaa SemiBold"/>
                <a:ea typeface="Comfortaa SemiBold"/>
                <a:cs typeface="Comfortaa SemiBold"/>
                <a:sym typeface="Comfortaa SemiBold"/>
              </a:rPr>
              <a:t>Благодаря за вниманието!</a:t>
            </a:r>
            <a:endParaRPr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