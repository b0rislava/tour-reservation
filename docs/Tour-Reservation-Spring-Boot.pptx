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y="5143500" cx="9144000"/>
  <p:notesSz cx="6858000" cy="9144000"/>
  <p:embeddedFontLst>
    <p:embeddedFont>
      <p:font typeface="Comfortaa SemiBold"/>
      <p:regular r:id="rId16"/>
      <p:bold r:id="rId17"/>
    </p:embeddedFont>
    <p:embeddedFont>
      <p:font typeface="Roboto"/>
      <p:regular r:id="rId18"/>
      <p:bold r:id="rId19"/>
      <p:italic r:id="rId20"/>
      <p:boldItalic r:id="rId21"/>
    </p:embeddedFont>
    <p:embeddedFont>
      <p:font typeface="Comfortaa Medium"/>
      <p:regular r:id="rId22"/>
      <p:bold r:id="rId23"/>
    </p:embeddedFont>
    <p:embeddedFont>
      <p:font typeface="Comforta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oboto-italic.fntdata"/><Relationship Id="rId22" Type="http://schemas.openxmlformats.org/officeDocument/2006/relationships/font" Target="fonts/ComfortaaMedium-regular.fntdata"/><Relationship Id="rId21" Type="http://schemas.openxmlformats.org/officeDocument/2006/relationships/font" Target="fonts/Roboto-boldItalic.fntdata"/><Relationship Id="rId24" Type="http://schemas.openxmlformats.org/officeDocument/2006/relationships/font" Target="fonts/Comfortaa-regular.fntdata"/><Relationship Id="rId23" Type="http://schemas.openxmlformats.org/officeDocument/2006/relationships/font" Target="fonts/ComfortaaMedium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Comforta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font" Target="fonts/ComfortaaSemiBold-bold.fntdata"/><Relationship Id="rId16" Type="http://schemas.openxmlformats.org/officeDocument/2006/relationships/font" Target="fonts/ComfortaaSemiBold-regular.fntdata"/><Relationship Id="rId19" Type="http://schemas.openxmlformats.org/officeDocument/2006/relationships/font" Target="fonts/Roboto-bold.fntdata"/><Relationship Id="rId18" Type="http://schemas.openxmlformats.org/officeDocument/2006/relationships/font" Target="fonts/Roboto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5933e7c9c_0_2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5933e7c9c_0_2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5933e7c9c_0_2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5933e7c9c_0_2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d5933e7c9c_0_2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d5933e7c9c_0_2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d5933e7c9c_0_2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d5933e7c9c_0_2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d5933e7c9c_0_2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d5933e7c9c_0_2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d5933e7c9c_0_2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d5933e7c9c_0_2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d5933e7c9c_0_2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d5933e7c9c_0_2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d5933e7c9c_0_2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d5933e7c9c_0_2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d5933e7c9c_0_2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d5933e7c9c_0_2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11" name="Google Shape;11;p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1" name="Google Shape;21;p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" name="Google Shape;26;p3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" name="Google Shape;27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oogle Shape;29;p4"/>
          <p:cNvGrpSpPr/>
          <p:nvPr/>
        </p:nvGrpSpPr>
        <p:grpSpPr>
          <a:xfrm>
            <a:off x="0" y="3903669"/>
            <a:ext cx="9144000" cy="1239925"/>
            <a:chOff x="0" y="3903669"/>
            <a:chExt cx="9144000" cy="1239925"/>
          </a:xfrm>
        </p:grpSpPr>
        <p:sp>
          <p:nvSpPr>
            <p:cNvPr id="30" name="Google Shape;30;p4"/>
            <p:cNvSpPr/>
            <p:nvPr/>
          </p:nvSpPr>
          <p:spPr>
            <a:xfrm>
              <a:off x="8154895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4"/>
            <p:cNvSpPr/>
            <p:nvPr/>
          </p:nvSpPr>
          <p:spPr>
            <a:xfrm flipH="1">
              <a:off x="6181163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4"/>
            <p:cNvSpPr/>
            <p:nvPr/>
          </p:nvSpPr>
          <p:spPr>
            <a:xfrm>
              <a:off x="7170274" y="3903669"/>
              <a:ext cx="989100" cy="987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4"/>
            <p:cNvSpPr/>
            <p:nvPr/>
          </p:nvSpPr>
          <p:spPr>
            <a:xfrm rot="10800000">
              <a:off x="8154757" y="3903682"/>
              <a:ext cx="989100" cy="9879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4"/>
            <p:cNvSpPr/>
            <p:nvPr/>
          </p:nvSpPr>
          <p:spPr>
            <a:xfrm>
              <a:off x="0" y="4891594"/>
              <a:ext cx="9144000" cy="2520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5" name="Google Shape;35;p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7" name="Google Shape;37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311700" y="1465804"/>
            <a:ext cx="2808000" cy="310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9" name="Google Shape;49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4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oogle Shape;51;p8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" name="Google Shape;52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" name="Google Shape;53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" name="Google Shape;54;p8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" name="Google Shape;55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" name="Google Shape;56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7" name="Google Shape;57;p8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8" name="Google Shape;58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9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" name="Google Shape;62;p9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63" name="Google Shape;63;p9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64" name="Google Shape;64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5" name="Google Shape;65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68" name="Google Shape;68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1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71" name="Google Shape;71;p1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1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11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1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1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6" name="Google Shape;76;p11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7" name="Google Shape;77;p11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8" name="Google Shape;78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ctrTitle"/>
          </p:nvPr>
        </p:nvSpPr>
        <p:spPr>
          <a:xfrm>
            <a:off x="480150" y="1426642"/>
            <a:ext cx="8183700" cy="1473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bg">
                <a:latin typeface="Comfortaa SemiBold"/>
                <a:ea typeface="Comfortaa SemiBold"/>
                <a:cs typeface="Comfortaa SemiBold"/>
                <a:sym typeface="Comfortaa SemiBold"/>
              </a:rPr>
              <a:t>Приложение за резервиране на турове</a:t>
            </a:r>
            <a:endParaRPr>
              <a:latin typeface="Comfortaa SemiBold"/>
              <a:ea typeface="Comfortaa SemiBold"/>
              <a:cs typeface="Comfortaa SemiBold"/>
              <a:sym typeface="Comfortaa SemiBold"/>
            </a:endParaRPr>
          </a:p>
        </p:txBody>
      </p:sp>
      <p:sp>
        <p:nvSpPr>
          <p:cNvPr id="86" name="Google Shape;86;p13"/>
          <p:cNvSpPr txBox="1"/>
          <p:nvPr>
            <p:ph idx="1" type="subTitle"/>
          </p:nvPr>
        </p:nvSpPr>
        <p:spPr>
          <a:xfrm>
            <a:off x="2727754" y="2900249"/>
            <a:ext cx="3688500" cy="77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bg">
                <a:solidFill>
                  <a:schemeClr val="accent5"/>
                </a:solidFill>
                <a:latin typeface="Comfortaa"/>
                <a:ea typeface="Comfortaa"/>
                <a:cs typeface="Comfortaa"/>
                <a:sym typeface="Comfortaa"/>
              </a:rPr>
              <a:t>Борислава Иванова 12б </a:t>
            </a:r>
            <a:endParaRPr>
              <a:solidFill>
                <a:schemeClr val="accent5"/>
              </a:solidFill>
              <a:latin typeface="Comfortaa"/>
              <a:ea typeface="Comfortaa"/>
              <a:cs typeface="Comfortaa"/>
              <a:sym typeface="Comforta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bg">
                <a:latin typeface="Comfortaa"/>
                <a:ea typeface="Comfortaa"/>
                <a:cs typeface="Comfortaa"/>
                <a:sym typeface="Comfortaa"/>
              </a:rPr>
              <a:t>Цел на проекта</a:t>
            </a:r>
            <a:endParaRPr b="1">
              <a:latin typeface="Comfortaa"/>
              <a:ea typeface="Comfortaa"/>
              <a:cs typeface="Comfortaa"/>
              <a:sym typeface="Comfortaa"/>
            </a:endParaRPr>
          </a:p>
        </p:txBody>
      </p:sp>
      <p:sp>
        <p:nvSpPr>
          <p:cNvPr id="92" name="Google Shape;92;p14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Comfortaa Medium"/>
              <a:buChar char="-"/>
            </a:pPr>
            <a:r>
              <a:rPr lang="bg">
                <a:latin typeface="Comfortaa Medium"/>
                <a:ea typeface="Comfortaa Medium"/>
                <a:cs typeface="Comfortaa Medium"/>
                <a:sym typeface="Comfortaa Medium"/>
              </a:rPr>
              <a:t>Изграждане на цялостно уеб приложение за резервация на екскурзии. </a:t>
            </a:r>
            <a:endParaRPr>
              <a:latin typeface="Comfortaa Medium"/>
              <a:ea typeface="Comfortaa Medium"/>
              <a:cs typeface="Comfortaa Medium"/>
              <a:sym typeface="Comfortaa Medium"/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Comfortaa Medium"/>
              <a:buChar char="-"/>
            </a:pPr>
            <a:r>
              <a:rPr lang="bg">
                <a:latin typeface="Comfortaa Medium"/>
                <a:ea typeface="Comfortaa Medium"/>
                <a:cs typeface="Comfortaa Medium"/>
                <a:sym typeface="Comfortaa Medium"/>
              </a:rPr>
              <a:t>Предоставяне на сигурен REST API бекенд. </a:t>
            </a:r>
            <a:endParaRPr>
              <a:latin typeface="Comfortaa Medium"/>
              <a:ea typeface="Comfortaa Medium"/>
              <a:cs typeface="Comfortaa Medium"/>
              <a:sym typeface="Comfortaa Medium"/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Comfortaa Medium"/>
              <a:buChar char="-"/>
            </a:pPr>
            <a:r>
              <a:rPr lang="bg">
                <a:latin typeface="Comfortaa Medium"/>
                <a:ea typeface="Comfortaa Medium"/>
                <a:cs typeface="Comfortaa Medium"/>
                <a:sym typeface="Comfortaa Medium"/>
              </a:rPr>
              <a:t>Интерактивен и модерен потребителски интерфейс (Vanilla JS &amp; CSS). </a:t>
            </a:r>
            <a:endParaRPr>
              <a:latin typeface="Comfortaa Medium"/>
              <a:ea typeface="Comfortaa Medium"/>
              <a:cs typeface="Comfortaa Medium"/>
              <a:sym typeface="Comfortaa Medium"/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Comfortaa Medium"/>
              <a:buChar char="-"/>
            </a:pPr>
            <a:r>
              <a:rPr lang="bg">
                <a:latin typeface="Comfortaa Medium"/>
                <a:ea typeface="Comfortaa Medium"/>
                <a:cs typeface="Comfortaa Medium"/>
                <a:sym typeface="Comfortaa Medium"/>
              </a:rPr>
              <a:t>Автоматизиране на процеса по създаване на турове и запазване на места.</a:t>
            </a:r>
            <a:endParaRPr>
              <a:latin typeface="Comfortaa Medium"/>
              <a:ea typeface="Comfortaa Medium"/>
              <a:cs typeface="Comfortaa Medium"/>
              <a:sym typeface="Comfortaa Medium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bg">
                <a:latin typeface="Comfortaa"/>
                <a:ea typeface="Comfortaa"/>
                <a:cs typeface="Comfortaa"/>
                <a:sym typeface="Comfortaa"/>
              </a:rPr>
              <a:t>Потребителски роли</a:t>
            </a:r>
            <a:endParaRPr b="1">
              <a:latin typeface="Comfortaa"/>
              <a:ea typeface="Comfortaa"/>
              <a:cs typeface="Comfortaa"/>
              <a:sym typeface="Comfortaa"/>
            </a:endParaRPr>
          </a:p>
        </p:txBody>
      </p:sp>
      <p:sp>
        <p:nvSpPr>
          <p:cNvPr id="98" name="Google Shape;98;p1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bg">
                <a:latin typeface="Comfortaa Medium"/>
                <a:ea typeface="Comfortaa Medium"/>
                <a:cs typeface="Comfortaa Medium"/>
                <a:sym typeface="Comfortaa Medium"/>
              </a:rPr>
              <a:t>Системата разделя функционалностите спрямо </a:t>
            </a:r>
            <a:r>
              <a:rPr lang="bg">
                <a:solidFill>
                  <a:schemeClr val="accent4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3</a:t>
            </a:r>
            <a:r>
              <a:rPr lang="bg">
                <a:latin typeface="Comfortaa Medium"/>
                <a:ea typeface="Comfortaa Medium"/>
                <a:cs typeface="Comfortaa Medium"/>
                <a:sym typeface="Comfortaa Medium"/>
              </a:rPr>
              <a:t> типа потребители:</a:t>
            </a:r>
            <a:endParaRPr>
              <a:latin typeface="Comfortaa Medium"/>
              <a:ea typeface="Comfortaa Medium"/>
              <a:cs typeface="Comfortaa Medium"/>
              <a:sym typeface="Comfortaa Medium"/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800"/>
              <a:buFont typeface="Comfortaa Medium"/>
              <a:buChar char="-"/>
            </a:pPr>
            <a:r>
              <a:rPr lang="bg">
                <a:solidFill>
                  <a:schemeClr val="accent4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Traveler</a:t>
            </a:r>
            <a:r>
              <a:rPr lang="bg">
                <a:latin typeface="Comfortaa Medium"/>
                <a:ea typeface="Comfortaa Medium"/>
                <a:cs typeface="Comfortaa Medium"/>
                <a:sym typeface="Comfortaa Medium"/>
              </a:rPr>
              <a:t>: Разглежда дестинации, резервира дати и запазва любими турове. </a:t>
            </a:r>
            <a:endParaRPr>
              <a:latin typeface="Comfortaa Medium"/>
              <a:ea typeface="Comfortaa Medium"/>
              <a:cs typeface="Comfortaa Medium"/>
              <a:sym typeface="Comfortaa Medium"/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Comfortaa Medium"/>
              <a:buChar char="-"/>
            </a:pPr>
            <a:r>
              <a:rPr lang="bg">
                <a:solidFill>
                  <a:schemeClr val="accent4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Guide</a:t>
            </a:r>
            <a:r>
              <a:rPr lang="bg">
                <a:latin typeface="Comfortaa Medium"/>
                <a:ea typeface="Comfortaa Medium"/>
                <a:cs typeface="Comfortaa Medium"/>
                <a:sym typeface="Comfortaa Medium"/>
              </a:rPr>
              <a:t>: Създава, редактира и управлява своите турове. </a:t>
            </a:r>
            <a:endParaRPr>
              <a:latin typeface="Comfortaa Medium"/>
              <a:ea typeface="Comfortaa Medium"/>
              <a:cs typeface="Comfortaa Medium"/>
              <a:sym typeface="Comfortaa Medium"/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Comfortaa Medium"/>
              <a:buChar char="-"/>
            </a:pPr>
            <a:r>
              <a:rPr lang="bg">
                <a:solidFill>
                  <a:schemeClr val="accent4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Admin</a:t>
            </a:r>
            <a:r>
              <a:rPr lang="bg">
                <a:latin typeface="Comfortaa Medium"/>
                <a:ea typeface="Comfortaa Medium"/>
                <a:cs typeface="Comfortaa Medium"/>
                <a:sym typeface="Comfortaa Medium"/>
              </a:rPr>
              <a:t>: Има достъп до специално табло за пълна модерация на потребители и изтриване на съдържание.</a:t>
            </a:r>
            <a:endParaRPr>
              <a:latin typeface="Comfortaa Medium"/>
              <a:ea typeface="Comfortaa Medium"/>
              <a:cs typeface="Comfortaa Medium"/>
              <a:sym typeface="Comfortaa Medium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bg">
                <a:latin typeface="Comfortaa"/>
                <a:ea typeface="Comfortaa"/>
                <a:cs typeface="Comfortaa"/>
                <a:sym typeface="Comfortaa"/>
              </a:rPr>
              <a:t>Технологичен стек</a:t>
            </a:r>
            <a:endParaRPr b="1">
              <a:latin typeface="Comfortaa"/>
              <a:ea typeface="Comfortaa"/>
              <a:cs typeface="Comfortaa"/>
              <a:sym typeface="Comfortaa"/>
            </a:endParaRPr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bg">
                <a:solidFill>
                  <a:schemeClr val="accent6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Бекенд </a:t>
            </a:r>
            <a:r>
              <a:rPr lang="bg">
                <a:latin typeface="Comfortaa Medium"/>
                <a:ea typeface="Comfortaa Medium"/>
                <a:cs typeface="Comfortaa Medium"/>
                <a:sym typeface="Comfortaa Medium"/>
              </a:rPr>
              <a:t>инфраструктура: </a:t>
            </a:r>
            <a:endParaRPr>
              <a:latin typeface="Comfortaa Medium"/>
              <a:ea typeface="Comfortaa Medium"/>
              <a:cs typeface="Comfortaa Medium"/>
              <a:sym typeface="Comfortaa Medium"/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800"/>
              <a:buFont typeface="Comfortaa Medium"/>
              <a:buChar char="-"/>
            </a:pPr>
            <a:r>
              <a:rPr lang="bg">
                <a:latin typeface="Comfortaa Medium"/>
                <a:ea typeface="Comfortaa Medium"/>
                <a:cs typeface="Comfortaa Medium"/>
                <a:sym typeface="Comfortaa Medium"/>
              </a:rPr>
              <a:t>Spring Boot (Java): REST API, Spring Security, Spring Data JPA. </a:t>
            </a:r>
            <a:endParaRPr>
              <a:latin typeface="Comfortaa Medium"/>
              <a:ea typeface="Comfortaa Medium"/>
              <a:cs typeface="Comfortaa Medium"/>
              <a:sym typeface="Comfortaa Medium"/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Comfortaa Medium"/>
              <a:buChar char="-"/>
            </a:pPr>
            <a:r>
              <a:rPr lang="bg">
                <a:latin typeface="Comfortaa Medium"/>
                <a:ea typeface="Comfortaa Medium"/>
                <a:cs typeface="Comfortaa Medium"/>
                <a:sym typeface="Comfortaa Medium"/>
              </a:rPr>
              <a:t>База данни: PostgreSQL (стартирана чрез Docker). </a:t>
            </a:r>
            <a:endParaRPr>
              <a:latin typeface="Comfortaa Medium"/>
              <a:ea typeface="Comfortaa Medium"/>
              <a:cs typeface="Comfortaa Medium"/>
              <a:sym typeface="Comfortaa Medium"/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Comfortaa Medium"/>
              <a:buChar char="-"/>
            </a:pPr>
            <a:r>
              <a:rPr lang="bg">
                <a:latin typeface="Comfortaa Medium"/>
                <a:ea typeface="Comfortaa Medium"/>
                <a:cs typeface="Comfortaa Medium"/>
                <a:sym typeface="Comfortaa Medium"/>
              </a:rPr>
              <a:t>Документация и Тестване: Swagger (OpenAPI). </a:t>
            </a:r>
            <a:endParaRPr>
              <a:latin typeface="Comfortaa Medium"/>
              <a:ea typeface="Comfortaa Medium"/>
              <a:cs typeface="Comfortaa Medium"/>
              <a:sym typeface="Comfortaa Medium"/>
            </a:endParaRPr>
          </a:p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bg">
                <a:solidFill>
                  <a:schemeClr val="accent5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Фронтенд </a:t>
            </a:r>
            <a:r>
              <a:rPr lang="bg">
                <a:latin typeface="Comfortaa Medium"/>
                <a:ea typeface="Comfortaa Medium"/>
                <a:cs typeface="Comfortaa Medium"/>
                <a:sym typeface="Comfortaa Medium"/>
              </a:rPr>
              <a:t>архитектура: </a:t>
            </a:r>
            <a:endParaRPr>
              <a:latin typeface="Comfortaa Medium"/>
              <a:ea typeface="Comfortaa Medium"/>
              <a:cs typeface="Comfortaa Medium"/>
              <a:sym typeface="Comfortaa Medium"/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800"/>
              <a:buFont typeface="Comfortaa Medium"/>
              <a:buChar char="-"/>
            </a:pPr>
            <a:r>
              <a:rPr lang="bg">
                <a:latin typeface="Comfortaa Medium"/>
                <a:ea typeface="Comfortaa Medium"/>
                <a:cs typeface="Comfortaa Medium"/>
                <a:sym typeface="Comfortaa Medium"/>
              </a:rPr>
              <a:t>Vanilla JavaScript &amp; Fetch API (асинхронни заявки). </a:t>
            </a:r>
            <a:endParaRPr>
              <a:latin typeface="Comfortaa Medium"/>
              <a:ea typeface="Comfortaa Medium"/>
              <a:cs typeface="Comfortaa Medium"/>
              <a:sym typeface="Comfortaa Medium"/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Comfortaa Medium"/>
              <a:buChar char="-"/>
            </a:pPr>
            <a:r>
              <a:rPr lang="bg">
                <a:latin typeface="Comfortaa Medium"/>
                <a:ea typeface="Comfortaa Medium"/>
                <a:cs typeface="Comfortaa Medium"/>
                <a:sym typeface="Comfortaa Medium"/>
              </a:rPr>
              <a:t>HTML5 и CSS3 (Flexbox/Grid, променливи).</a:t>
            </a:r>
            <a:endParaRPr>
              <a:latin typeface="Comfortaa Medium"/>
              <a:ea typeface="Comfortaa Medium"/>
              <a:cs typeface="Comfortaa Medium"/>
              <a:sym typeface="Comfortaa Medium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7"/>
          <p:cNvSpPr txBox="1"/>
          <p:nvPr>
            <p:ph type="title"/>
          </p:nvPr>
        </p:nvSpPr>
        <p:spPr>
          <a:xfrm>
            <a:off x="6620775" y="1258550"/>
            <a:ext cx="2702400" cy="160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bg" sz="2320">
                <a:latin typeface="Comfortaa"/>
                <a:ea typeface="Comfortaa"/>
                <a:cs typeface="Comfortaa"/>
                <a:sym typeface="Comfortaa"/>
              </a:rPr>
              <a:t>Архитектура на базата данни</a:t>
            </a:r>
            <a:endParaRPr b="1" sz="2320">
              <a:latin typeface="Comfortaa"/>
              <a:ea typeface="Comfortaa"/>
              <a:cs typeface="Comfortaa"/>
              <a:sym typeface="Comforta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b="1" sz="2520">
              <a:latin typeface="Comfortaa"/>
              <a:ea typeface="Comfortaa"/>
              <a:cs typeface="Comfortaa"/>
              <a:sym typeface="Comfortaa"/>
            </a:endParaRPr>
          </a:p>
        </p:txBody>
      </p:sp>
      <p:pic>
        <p:nvPicPr>
          <p:cNvPr id="110" name="Google Shape;110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8050" y="333775"/>
            <a:ext cx="6255226" cy="40975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bg">
                <a:latin typeface="Comfortaa"/>
                <a:ea typeface="Comfortaa"/>
                <a:cs typeface="Comfortaa"/>
                <a:sym typeface="Comfortaa"/>
              </a:rPr>
              <a:t>Релации в база данни</a:t>
            </a:r>
            <a:endParaRPr b="1">
              <a:latin typeface="Comfortaa"/>
              <a:ea typeface="Comfortaa"/>
              <a:cs typeface="Comfortaa"/>
              <a:sym typeface="Comfortaa"/>
            </a:endParaRPr>
          </a:p>
        </p:txBody>
      </p:sp>
      <p:sp>
        <p:nvSpPr>
          <p:cNvPr id="116" name="Google Shape;116;p18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52526"/>
              </a:buClr>
              <a:buSzPts val="1800"/>
              <a:buFont typeface="Comfortaa Medium"/>
              <a:buChar char="-"/>
            </a:pPr>
            <a:r>
              <a:rPr lang="bg">
                <a:solidFill>
                  <a:schemeClr val="accent4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@OneToMany</a:t>
            </a:r>
            <a:r>
              <a:rPr lang="bg">
                <a:solidFill>
                  <a:srgbClr val="252526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: Релация между Tour и Booking (Един тур има много резервации). </a:t>
            </a:r>
            <a:endParaRPr>
              <a:solidFill>
                <a:srgbClr val="252526"/>
              </a:solidFill>
              <a:latin typeface="Comfortaa Medium"/>
              <a:ea typeface="Comfortaa Medium"/>
              <a:cs typeface="Comfortaa Medium"/>
              <a:sym typeface="Comfortaa Medium"/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52526"/>
              </a:buClr>
              <a:buSzPts val="1800"/>
              <a:buFont typeface="Comfortaa Medium"/>
              <a:buChar char="-"/>
            </a:pPr>
            <a:r>
              <a:rPr lang="bg">
                <a:solidFill>
                  <a:schemeClr val="accent4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@OneToMany</a:t>
            </a:r>
            <a:r>
              <a:rPr lang="bg">
                <a:solidFill>
                  <a:srgbClr val="252526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: Релация между User и Booking (Един потребител има много резервации).</a:t>
            </a:r>
            <a:endParaRPr>
              <a:solidFill>
                <a:srgbClr val="252526"/>
              </a:solidFill>
              <a:latin typeface="Comfortaa Medium"/>
              <a:ea typeface="Comfortaa Medium"/>
              <a:cs typeface="Comfortaa Medium"/>
              <a:sym typeface="Comfortaa Medium"/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52526"/>
              </a:buClr>
              <a:buSzPts val="1800"/>
              <a:buFont typeface="Comfortaa Medium"/>
              <a:buChar char="-"/>
            </a:pPr>
            <a:r>
              <a:rPr lang="bg">
                <a:solidFill>
                  <a:schemeClr val="accent4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@OneToMany</a:t>
            </a:r>
            <a:r>
              <a:rPr lang="bg">
                <a:solidFill>
                  <a:srgbClr val="252526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: Релация между User и Tour (Един екскурзовод има много създадени турове).</a:t>
            </a:r>
            <a:endParaRPr>
              <a:solidFill>
                <a:srgbClr val="252526"/>
              </a:solidFill>
              <a:latin typeface="Comfortaa Medium"/>
              <a:ea typeface="Comfortaa Medium"/>
              <a:cs typeface="Comfortaa Medium"/>
              <a:sym typeface="Comfortaa Medium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bg">
                <a:latin typeface="Comfortaa"/>
                <a:ea typeface="Comfortaa"/>
                <a:cs typeface="Comfortaa"/>
                <a:sym typeface="Comfortaa"/>
              </a:rPr>
              <a:t>Релации в база данни</a:t>
            </a:r>
            <a:endParaRPr b="1">
              <a:latin typeface="Comfortaa"/>
              <a:ea typeface="Comfortaa"/>
              <a:cs typeface="Comfortaa"/>
              <a:sym typeface="Comfortaa"/>
            </a:endParaRPr>
          </a:p>
        </p:txBody>
      </p:sp>
      <p:sp>
        <p:nvSpPr>
          <p:cNvPr id="122" name="Google Shape;122;p19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52526"/>
              </a:buClr>
              <a:buSzPts val="1800"/>
              <a:buFont typeface="Comfortaa Medium"/>
              <a:buChar char="-"/>
            </a:pPr>
            <a:r>
              <a:rPr lang="bg">
                <a:solidFill>
                  <a:schemeClr val="accent4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@ManyToMany</a:t>
            </a:r>
            <a:r>
              <a:rPr lang="bg">
                <a:solidFill>
                  <a:srgbClr val="252526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: Релация между User и Tour за функционалността "Любими турове" (Много потребители харесват много турове).</a:t>
            </a:r>
            <a:endParaRPr>
              <a:solidFill>
                <a:srgbClr val="252526"/>
              </a:solidFill>
              <a:latin typeface="Comfortaa Medium"/>
              <a:ea typeface="Comfortaa Medium"/>
              <a:cs typeface="Comfortaa Medium"/>
              <a:sym typeface="Comfortaa Medium"/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52526"/>
              </a:buClr>
              <a:buSzPts val="1800"/>
              <a:buFont typeface="Comfortaa Medium"/>
              <a:buChar char="-"/>
            </a:pPr>
            <a:r>
              <a:rPr lang="bg">
                <a:solidFill>
                  <a:schemeClr val="accent4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@OneToOne</a:t>
            </a:r>
            <a:r>
              <a:rPr lang="bg">
                <a:solidFill>
                  <a:srgbClr val="252526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: Релация между Tour и TourDetails (Всеки тур има точно един обект с допълнителни детайли).</a:t>
            </a:r>
            <a:endParaRPr>
              <a:solidFill>
                <a:srgbClr val="252526"/>
              </a:solidFill>
              <a:latin typeface="Comfortaa Medium"/>
              <a:ea typeface="Comfortaa Medium"/>
              <a:cs typeface="Comfortaa Medium"/>
              <a:sym typeface="Comfortaa Medium"/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52526"/>
              </a:buClr>
              <a:buSzPts val="1800"/>
              <a:buFont typeface="Comfortaa Medium"/>
              <a:buChar char="-"/>
            </a:pPr>
            <a:r>
              <a:rPr lang="bg">
                <a:solidFill>
                  <a:schemeClr val="accent4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@OneToOne</a:t>
            </a:r>
            <a:r>
              <a:rPr lang="bg">
                <a:solidFill>
                  <a:srgbClr val="252526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: Релация между Tour и TourImage (Всеки тур има точно една запазена снимка).</a:t>
            </a:r>
            <a:endParaRPr>
              <a:solidFill>
                <a:srgbClr val="252526"/>
              </a:solidFill>
              <a:latin typeface="Comfortaa Medium"/>
              <a:ea typeface="Comfortaa Medium"/>
              <a:cs typeface="Comfortaa Medium"/>
              <a:sym typeface="Comfortaa Medium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bg">
                <a:latin typeface="Comfortaa"/>
                <a:ea typeface="Comfortaa"/>
                <a:cs typeface="Comfortaa"/>
                <a:sym typeface="Comfortaa"/>
              </a:rPr>
              <a:t>Тестване на системата</a:t>
            </a:r>
            <a:endParaRPr b="1">
              <a:latin typeface="Comfortaa"/>
              <a:ea typeface="Comfortaa"/>
              <a:cs typeface="Comfortaa"/>
              <a:sym typeface="Comfortaa"/>
            </a:endParaRPr>
          </a:p>
        </p:txBody>
      </p:sp>
      <p:sp>
        <p:nvSpPr>
          <p:cNvPr id="128" name="Google Shape;128;p20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52526"/>
              </a:buClr>
              <a:buSzPts val="1800"/>
              <a:buFont typeface="Comfortaa Medium"/>
              <a:buChar char="-"/>
            </a:pPr>
            <a:r>
              <a:rPr lang="bg">
                <a:solidFill>
                  <a:schemeClr val="accent6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HTTP API Scripts</a:t>
            </a:r>
            <a:r>
              <a:rPr lang="bg">
                <a:solidFill>
                  <a:srgbClr val="252526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: Директни файлове (api-tests.http) за тестване на заявките (GET, POST). </a:t>
            </a:r>
            <a:endParaRPr>
              <a:solidFill>
                <a:srgbClr val="252526"/>
              </a:solidFill>
              <a:latin typeface="Comfortaa Medium"/>
              <a:ea typeface="Comfortaa Medium"/>
              <a:cs typeface="Comfortaa Medium"/>
              <a:sym typeface="Comfortaa Medium"/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52526"/>
              </a:buClr>
              <a:buSzPts val="1800"/>
              <a:buFont typeface="Comfortaa Medium"/>
              <a:buChar char="-"/>
            </a:pPr>
            <a:r>
              <a:rPr lang="bg">
                <a:solidFill>
                  <a:schemeClr val="accent6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Swagger UI</a:t>
            </a:r>
            <a:r>
              <a:rPr lang="bg">
                <a:solidFill>
                  <a:srgbClr val="252526"/>
                </a:solidFill>
                <a:latin typeface="Comfortaa Medium"/>
                <a:ea typeface="Comfortaa Medium"/>
                <a:cs typeface="Comfortaa Medium"/>
                <a:sym typeface="Comfortaa Medium"/>
              </a:rPr>
              <a:t>: Графичен интерфейс за интерактивно разглеждане на endpoints.</a:t>
            </a:r>
            <a:endParaRPr>
              <a:solidFill>
                <a:srgbClr val="252526"/>
              </a:solidFill>
              <a:latin typeface="Comfortaa Medium"/>
              <a:ea typeface="Comfortaa Medium"/>
              <a:cs typeface="Comfortaa Medium"/>
              <a:sym typeface="Comfortaa Medium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1"/>
          <p:cNvSpPr txBox="1"/>
          <p:nvPr>
            <p:ph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bg" sz="10000">
                <a:latin typeface="Comfortaa"/>
                <a:ea typeface="Comfortaa"/>
                <a:cs typeface="Comfortaa"/>
                <a:sym typeface="Comfortaa"/>
              </a:rPr>
              <a:t>Демо</a:t>
            </a:r>
            <a:endParaRPr b="1" sz="10000">
              <a:latin typeface="Comfortaa"/>
              <a:ea typeface="Comfortaa"/>
              <a:cs typeface="Comfortaa"/>
              <a:sym typeface="Comforta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2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bg">
                <a:latin typeface="Comfortaa SemiBold"/>
                <a:ea typeface="Comfortaa SemiBold"/>
                <a:cs typeface="Comfortaa SemiBold"/>
                <a:sym typeface="Comfortaa SemiBold"/>
              </a:rPr>
              <a:t>Благодаря за вниманието!</a:t>
            </a:r>
            <a:endParaRPr>
              <a:latin typeface="Comfortaa SemiBold"/>
              <a:ea typeface="Comfortaa SemiBold"/>
              <a:cs typeface="Comfortaa SemiBold"/>
              <a:sym typeface="Comfortaa SemiBold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eometric">
  <a:themeElements>
    <a:clrScheme name="Geometric">
      <a:dk1>
        <a:srgbClr val="2A3990"/>
      </a:dk1>
      <a:lt1>
        <a:srgbClr val="FFFFFF"/>
      </a:lt1>
      <a:dk2>
        <a:srgbClr val="434343"/>
      </a:dk2>
      <a:lt2>
        <a:srgbClr val="999999"/>
      </a:lt2>
      <a:accent1>
        <a:srgbClr val="212D74"/>
      </a:accent1>
      <a:accent2>
        <a:srgbClr val="3949AB"/>
      </a:accent2>
      <a:accent3>
        <a:srgbClr val="9C254D"/>
      </a:accent3>
      <a:accent4>
        <a:srgbClr val="D23369"/>
      </a:accent4>
      <a:accent5>
        <a:srgbClr val="F06292"/>
      </a:accent5>
      <a:accent6>
        <a:srgbClr val="7890CD"/>
      </a:accent6>
      <a:hlink>
        <a:srgbClr val="F06292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