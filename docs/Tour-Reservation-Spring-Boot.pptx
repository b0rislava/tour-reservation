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Comfortaa SemiBold"/>
      <p:regular r:id="rId17"/>
      <p:bold r:id="rId18"/>
    </p:embeddedFont>
    <p:embeddedFont>
      <p:font typeface="Roboto"/>
      <p:regular r:id="rId19"/>
      <p:bold r:id="rId20"/>
      <p:italic r:id="rId21"/>
      <p:boldItalic r:id="rId22"/>
    </p:embeddedFont>
    <p:embeddedFont>
      <p:font typeface="Comfortaa Medium"/>
      <p:regular r:id="rId23"/>
      <p:bold r:id="rId24"/>
    </p:embeddedFont>
    <p:embeddedFont>
      <p:font typeface="Comfortaa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Roboto-boldItalic.fntdata"/><Relationship Id="rId21" Type="http://schemas.openxmlformats.org/officeDocument/2006/relationships/font" Target="fonts/Roboto-italic.fntdata"/><Relationship Id="rId24" Type="http://schemas.openxmlformats.org/officeDocument/2006/relationships/font" Target="fonts/ComfortaaMedium-bold.fntdata"/><Relationship Id="rId23" Type="http://schemas.openxmlformats.org/officeDocument/2006/relationships/font" Target="fonts/Comfortaa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Comfortaa-bold.fntdata"/><Relationship Id="rId25" Type="http://schemas.openxmlformats.org/officeDocument/2006/relationships/font" Target="fonts/Comfortaa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ComfortaaSemiBold-regular.fntdata"/><Relationship Id="rId16" Type="http://schemas.openxmlformats.org/officeDocument/2006/relationships/slide" Target="slides/slide11.xml"/><Relationship Id="rId19" Type="http://schemas.openxmlformats.org/officeDocument/2006/relationships/font" Target="fonts/Roboto-regular.fntdata"/><Relationship Id="rId18" Type="http://schemas.openxmlformats.org/officeDocument/2006/relationships/font" Target="fonts/ComfortaaSemiBol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33e7c9c_0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33e7c9c_0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33e7c9c_0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33e7c9c_0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5933e7c9c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5933e7c9c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5933e7c9c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5933e7c9c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5933e7c9c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5933e7c9c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5933e7c9c_0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d5933e7c9c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615b2179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615b2179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5933e7c9c_0_2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5933e7c9c_0_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5933e7c9c_0_2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d5933e7c9c_0_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5933e7c9c_0_2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5933e7c9c_0_2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480150" y="1426642"/>
            <a:ext cx="8183700" cy="147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Comfortaa SemiBold"/>
                <a:ea typeface="Comfortaa SemiBold"/>
                <a:cs typeface="Comfortaa SemiBold"/>
                <a:sym typeface="Comfortaa SemiBold"/>
              </a:rPr>
              <a:t>Приложение за резервиране на турове</a:t>
            </a:r>
            <a:endParaRPr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2727754" y="2900249"/>
            <a:ext cx="3688500" cy="77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solidFill>
                  <a:schemeClr val="accent5"/>
                </a:solidFill>
                <a:latin typeface="Comfortaa"/>
                <a:ea typeface="Comfortaa"/>
                <a:cs typeface="Comfortaa"/>
                <a:sym typeface="Comfortaa"/>
              </a:rPr>
              <a:t>Борислава Иванова 12б </a:t>
            </a:r>
            <a:endParaRPr>
              <a:solidFill>
                <a:schemeClr val="accent5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Цел на проекта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Изграждане на цялостно уеб приложение за резервация на екскурзии.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Предоставяне на сигурен REST API бекенд.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Интерактивен и модерен потребителски интерфейс (Vanilla JS &amp; CSS).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Автоматизиране на процеса по създаване на турове и запазване на места.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Технологичен стек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solidFill>
                  <a:schemeClr val="accent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Бекенд 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инфраструктура: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Spring Boot (Java): REST API, Spring Security, Spring Data JPA.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База данни: PostgreSQL (стартирана чрез Docker).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Документация и Тестване: Swagger (OpenAPI).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bg">
                <a:solidFill>
                  <a:schemeClr val="accent5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Фронтенд 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архитектура: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Vanilla JavaScript &amp; Fetch API (асинхронни заявки).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HTML5 и CSS3 (Flexbox/Grid, променливи).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Потребителски роли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Системата разделя функционалностите спрямо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3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 типа потребители: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Traveler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: Разглежда дестинации, резервира дати и запазва любими турове.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Guide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: Създава, редактира и управлява своите турове.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Admin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: Има достъп до специално табло за пълна модерация на потребители и изтриване на съдържание.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6620775" y="1258550"/>
            <a:ext cx="2702400" cy="16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bg" sz="2320">
                <a:latin typeface="Comfortaa"/>
                <a:ea typeface="Comfortaa"/>
                <a:cs typeface="Comfortaa"/>
                <a:sym typeface="Comfortaa"/>
              </a:rPr>
              <a:t>Архитектура на базата данни</a:t>
            </a:r>
            <a:endParaRPr b="1" sz="232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b="1" sz="2520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050" y="333775"/>
            <a:ext cx="6255226" cy="4097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Релации в база данни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16" name="Google Shape;116;p18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Tour и Booking (Един тур има много резервации). 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User и Booking (Един потребител има много резервации).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User и Tour (Един екскурзовод има много създадени турове).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Релации в база данни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22" name="Google Shape;122;p19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@ManyToMany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User и Tour за функционалността "Любими турове" (Много потребители харесват много турове).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@OneToOne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Tour и TourImage (Всеки тур има точно една запазена снимка).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Сигурност и защита на данните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28" name="Google Shape;128;p20"/>
          <p:cNvSpPr txBox="1"/>
          <p:nvPr>
            <p:ph idx="1" type="body"/>
          </p:nvPr>
        </p:nvSpPr>
        <p:spPr>
          <a:xfrm>
            <a:off x="311700" y="10862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-32575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omfortaa Medium"/>
              <a:buChar char="-"/>
            </a:pP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Механизъм със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XSRF-TOKEN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 за всяка променяща състоянието заявка (POST, PUT, DELETE).</a:t>
            </a:r>
            <a:endParaRPr>
              <a:solidFill>
                <a:srgbClr val="000000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2575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omfortaa Medium"/>
              <a:buChar char="-"/>
            </a:pP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Автоматичен обмен на токени между сървъра и клиентския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JavaScript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.</a:t>
            </a:r>
            <a:endParaRPr>
              <a:solidFill>
                <a:srgbClr val="000000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2575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omfortaa Medium"/>
              <a:buChar char="-"/>
            </a:pP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Използване на алгоритъм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BCrypt 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за сигурно съхранение на паролите в базата данни</a:t>
            </a:r>
            <a:endParaRPr>
              <a:solidFill>
                <a:srgbClr val="000000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2575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omfortaa Medium"/>
              <a:buChar char="-"/>
            </a:pP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Стриктна проверка на входните данни чрез DTO и анотации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 (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@NotBlank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,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@Size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,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@Min…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)</a:t>
            </a:r>
            <a:endParaRPr>
              <a:solidFill>
                <a:srgbClr val="000000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2575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omfortaa Medium"/>
              <a:buChar char="-"/>
            </a:pP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Използване на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Enums </a:t>
            </a:r>
            <a:r>
              <a:rPr lang="bg">
                <a:solidFill>
                  <a:srgbClr val="000000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за статуси и роли, което предотвратява невалидни състояния в бизнес логиката.</a:t>
            </a:r>
            <a:endParaRPr>
              <a:solidFill>
                <a:srgbClr val="000000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Тестване на системата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34" name="Google Shape;134;p2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HTTP API Scripts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Директни файлове (api-tests.http) за тестване на заявките (GET, POST). 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Swagger UI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Графичен интерфейс за интерактивно разглеждане на endpoints.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bg" sz="10000">
                <a:latin typeface="Comfortaa"/>
                <a:ea typeface="Comfortaa"/>
                <a:cs typeface="Comfortaa"/>
                <a:sym typeface="Comfortaa"/>
              </a:rPr>
              <a:t>Демо</a:t>
            </a:r>
            <a:endParaRPr b="1" sz="10000"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Comfortaa SemiBold"/>
                <a:ea typeface="Comfortaa SemiBold"/>
                <a:cs typeface="Comfortaa SemiBold"/>
                <a:sym typeface="Comfortaa SemiBold"/>
              </a:rPr>
              <a:t>Благодаря за вниманието!</a:t>
            </a:r>
            <a:endParaRPr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